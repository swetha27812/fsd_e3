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9B6FAE-35E7-4658-9E0C-E22B6F68A5F9}" v="25" dt="2026-05-05T16:04:42.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04" autoAdjust="0"/>
    <p:restoredTop sz="94622" autoAdjust="0"/>
  </p:normalViewPr>
  <p:slideViewPr>
    <p:cSldViewPr>
      <p:cViewPr>
        <p:scale>
          <a:sx n="50" d="100"/>
          <a:sy n="50" d="100"/>
        </p:scale>
        <p:origin x="-226" y="3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 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51197" y="5854393"/>
            <a:ext cx="15925800"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 TICKET BOOKING WEB APPLICATION FOR TECHNICAL FEST</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 PAVANI SWETHA– VTU26633– 23UECS0843</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210801" y="7818586"/>
            <a:ext cx="7648838"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Rahaman–Assistant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a:t>
            </a:r>
            <a:r>
              <a:rPr lang="en-US" sz="2800" dirty="0">
                <a:latin typeface="Times New Roman" panose="02020603050405020304" pitchFamily="18" charset="0"/>
                <a:ea typeface="Cambria" panose="02040503050406030204" pitchFamily="18" charset="0"/>
                <a:cs typeface="Times New Roman" panose="02020603050405020304" pitchFamily="18" charset="0"/>
              </a:rPr>
              <a:t>Industry , Innovation and Infrastructure </a:t>
            </a:r>
            <a:endParaRPr lang="en-IN" sz="2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69401" y="1714500"/>
            <a:ext cx="14782800"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1981201" y="2302749"/>
            <a:ext cx="1609023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design application that sends OTP for booking tickets for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application that sends </a:t>
            </a:r>
            <a:r>
              <a:rPr lang="en-US" sz="3000" dirty="0" err="1">
                <a:latin typeface="+mj-lt"/>
                <a:cs typeface="Times New Roman" panose="02020603050405020304" pitchFamily="18" charset="0"/>
              </a:rPr>
              <a:t>Confimation</a:t>
            </a:r>
            <a:r>
              <a:rPr lang="en-US" sz="3000" dirty="0">
                <a:latin typeface="+mj-lt"/>
                <a:cs typeface="Times New Roman" panose="02020603050405020304" pitchFamily="18" charset="0"/>
              </a:rPr>
              <a:t> mail after successfully booking events.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608776" y="1741462"/>
            <a:ext cx="16254849" cy="11726287"/>
          </a:xfrm>
          <a:prstGeom prst="rect">
            <a:avLst/>
          </a:prstGeom>
          <a:noFill/>
        </p:spPr>
        <p:txBody>
          <a:bodyPr wrap="square" rtlCol="0">
            <a:spAutoFit/>
          </a:bodyPr>
          <a:lstStyle/>
          <a:p>
            <a:pPr lvl="1"/>
            <a:r>
              <a:rPr lang="en-IN" sz="2800" dirty="0"/>
              <a:t>• </a:t>
            </a:r>
            <a:r>
              <a:rPr lang="en-US" sz="2800" dirty="0"/>
              <a:t>The proposed system is a React JS-based web application for managing event ticket booking in a single platform.</a:t>
            </a:r>
          </a:p>
          <a:p>
            <a:pPr lvl="1"/>
            <a:endParaRPr lang="en-US" sz="2800" dirty="0"/>
          </a:p>
          <a:p>
            <a:pPr marL="457200" indent="-457200">
              <a:buFontTx/>
              <a:buChar char="-"/>
            </a:pPr>
            <a:r>
              <a:rPr lang="en-IN" sz="2800" dirty="0"/>
              <a:t>• </a:t>
            </a:r>
            <a:r>
              <a:rPr lang="en-US" sz="2800" dirty="0"/>
              <a:t> It allows users to register, view events, and book tickets.</a:t>
            </a:r>
          </a:p>
          <a:p>
            <a:pPr marL="457200" indent="-457200">
              <a:buFontTx/>
              <a:buChar char="-"/>
            </a:pPr>
            <a:endParaRPr lang="en-US" sz="2800" dirty="0"/>
          </a:p>
          <a:p>
            <a:pPr marL="457200" indent="-457200">
              <a:buFontTx/>
              <a:buChar char="-"/>
            </a:pPr>
            <a:r>
              <a:rPr lang="en-IN" sz="2800" dirty="0"/>
              <a:t>• </a:t>
            </a:r>
            <a:r>
              <a:rPr lang="en-US" sz="2800" dirty="0"/>
              <a:t> Admin can create and manage events.</a:t>
            </a:r>
          </a:p>
          <a:p>
            <a:pPr marL="457200" indent="-457200">
              <a:buFontTx/>
              <a:buChar char="-"/>
            </a:pPr>
            <a:endParaRPr lang="en-US" sz="2800" dirty="0"/>
          </a:p>
          <a:p>
            <a:pPr marL="457200" indent="-457200">
              <a:buFontTx/>
              <a:buChar char="-"/>
            </a:pPr>
            <a:r>
              <a:rPr lang="en-IN" sz="2800" dirty="0"/>
              <a:t>• </a:t>
            </a:r>
            <a:r>
              <a:rPr lang="en-US" sz="2800" dirty="0"/>
              <a:t> It provides real-time ticket availability and instant booking confirmation.</a:t>
            </a:r>
          </a:p>
          <a:p>
            <a:pPr marL="457200" indent="-457200">
              <a:buFontTx/>
              <a:buChar char="-"/>
            </a:pPr>
            <a:endParaRPr lang="en-US" sz="2800" dirty="0"/>
          </a:p>
          <a:p>
            <a:pPr marL="457200" indent="-457200">
              <a:buFontTx/>
              <a:buChar char="-"/>
            </a:pPr>
            <a:r>
              <a:rPr lang="en-IN" sz="2800" dirty="0"/>
              <a:t>• </a:t>
            </a:r>
            <a:r>
              <a:rPr lang="en-US" sz="2800" dirty="0"/>
              <a:t> The system stores booking details securely and generates reports.</a:t>
            </a:r>
          </a:p>
          <a:p>
            <a:pPr marL="457200" indent="-457200">
              <a:buFontTx/>
              <a:buChar char="-"/>
            </a:pPr>
            <a:endParaRPr lang="en-US" sz="2800" dirty="0"/>
          </a:p>
          <a:p>
            <a:pPr marL="457200" indent="-457200">
              <a:buFontTx/>
              <a:buChar char="-"/>
            </a:pPr>
            <a:r>
              <a:rPr lang="en-IN" sz="2800" dirty="0"/>
              <a:t>• </a:t>
            </a:r>
            <a:r>
              <a:rPr lang="en-US" sz="2800" dirty="0"/>
              <a:t> It reduces manual work and saves time.</a:t>
            </a:r>
          </a:p>
          <a:p>
            <a:pPr marL="457200" indent="-457200">
              <a:buFontTx/>
              <a:buChar char="-"/>
            </a:pPr>
            <a:endParaRPr lang="en-US" sz="2800" dirty="0"/>
          </a:p>
          <a:p>
            <a:pPr marL="457200" indent="-457200">
              <a:buFontTx/>
              <a:buChar char="-"/>
            </a:pPr>
            <a:r>
              <a:rPr lang="en-IN" sz="2800" dirty="0"/>
              <a:t>•  </a:t>
            </a:r>
            <a:r>
              <a:rPr lang="en-US" sz="2800" dirty="0"/>
              <a:t>It avoids mistakes in Money calculation.</a:t>
            </a:r>
          </a:p>
          <a:p>
            <a:pPr marL="457200" indent="-457200">
              <a:buFontTx/>
              <a:buChar char="-"/>
            </a:pPr>
            <a:endParaRPr lang="en-US" sz="2800" dirty="0"/>
          </a:p>
          <a:p>
            <a:pPr marL="457200" indent="-457200">
              <a:buFontTx/>
              <a:buChar char="-"/>
            </a:pPr>
            <a:r>
              <a:rPr lang="en-IN" sz="2800" dirty="0"/>
              <a:t>•  </a:t>
            </a:r>
            <a:r>
              <a:rPr lang="en-US" sz="2800" dirty="0"/>
              <a:t>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608777" y="2324099"/>
            <a:ext cx="9379030" cy="4832092"/>
          </a:xfrm>
          <a:prstGeom prst="rect">
            <a:avLst/>
          </a:prstGeom>
          <a:noFill/>
        </p:spPr>
        <p:txBody>
          <a:bodyPr wrap="square" rtlCol="0">
            <a:spAutoFit/>
          </a:bodyPr>
          <a:lstStyle/>
          <a:p>
            <a:pPr marL="457200" indent="-457200" algn="just">
              <a:buFontTx/>
              <a:buChar char="-"/>
            </a:pPr>
            <a:r>
              <a:rPr lang="en-US" sz="2800" b="1" dirty="0"/>
              <a:t>Input</a:t>
            </a:r>
            <a:r>
              <a:rPr lang="en-US" sz="2800" dirty="0"/>
              <a:t>: The user interaction and data entered via the Web UI (HTML, CSS, JavaScript) which is then sent to the backend for processing.</a:t>
            </a:r>
          </a:p>
          <a:p>
            <a:pPr marL="457200" indent="-457200" algn="just">
              <a:buFontTx/>
              <a:buChar char="-"/>
            </a:pPr>
            <a:r>
              <a:rPr lang="en-US" sz="2800" b="1" dirty="0"/>
              <a:t>Processing</a:t>
            </a:r>
            <a:r>
              <a:rPr lang="en-US" sz="2800" dirty="0"/>
              <a:t>: The Java backend logic that performs input validation, executes the booking service, and handles data access.</a:t>
            </a:r>
          </a:p>
          <a:p>
            <a:pPr marL="457200" indent="-457200" algn="just">
              <a:buFontTx/>
              <a:buChar char="-"/>
            </a:pPr>
            <a:r>
              <a:rPr lang="en-US" sz="2800" b="1" dirty="0"/>
              <a:t>Database</a:t>
            </a:r>
            <a:r>
              <a:rPr lang="en-US" sz="2800" dirty="0"/>
              <a:t>: The MySQL storage layer where application data is permanently stored and retrieved by the backend.</a:t>
            </a:r>
          </a:p>
          <a:p>
            <a:pPr marL="457200" indent="-457200" algn="just">
              <a:buFontTx/>
              <a:buChar char="-"/>
            </a:pPr>
            <a:r>
              <a:rPr lang="en-US" sz="2800" b="1" dirty="0"/>
              <a:t>Output</a:t>
            </a:r>
            <a:r>
              <a:rPr lang="en-US" sz="2800" dirty="0"/>
              <a:t>: The confirmation or ticket generation sent back to the user or an external system after the request is successfully handled.</a:t>
            </a:r>
          </a:p>
        </p:txBody>
      </p:sp>
      <p:pic>
        <p:nvPicPr>
          <p:cNvPr id="3" name="Picture 2" descr="A diagram of a software system&#10;&#10;AI-generated content may be incorrect.">
            <a:extLst>
              <a:ext uri="{FF2B5EF4-FFF2-40B4-BE49-F238E27FC236}">
                <a16:creationId xmlns:a16="http://schemas.microsoft.com/office/drawing/2014/main" id="{E450803C-FFA0-0E0B-973B-BC6EE76CFB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53800" y="1844214"/>
            <a:ext cx="6422834" cy="74219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A diagram of a check ticket&#10;&#10;AI-generated content may be incorrect.">
            <a:extLst>
              <a:ext uri="{FF2B5EF4-FFF2-40B4-BE49-F238E27FC236}">
                <a16:creationId xmlns:a16="http://schemas.microsoft.com/office/drawing/2014/main" id="{7C5503DC-5599-2E1B-2465-9C9976C67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1741462"/>
            <a:ext cx="6858000"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2015465"/>
            <a:ext cx="15471031" cy="12641784"/>
          </a:xfrm>
          <a:prstGeom prst="rect">
            <a:avLst/>
          </a:prstGeom>
          <a:noFill/>
        </p:spPr>
        <p:txBody>
          <a:bodyPr wrap="square" rtlCol="0">
            <a:spAutoFit/>
          </a:bodyPr>
          <a:lstStyle/>
          <a:p>
            <a:r>
              <a:rPr lang="en-US" sz="2800" b="1" dirty="0">
                <a:solidFill>
                  <a:srgbClr val="0033CC"/>
                </a:solidFill>
              </a:rPr>
              <a:t>Frontend:</a:t>
            </a:r>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r>
              <a:rPr lang="en-US" sz="2800" dirty="0"/>
              <a:t>1.VS Code</a:t>
            </a:r>
          </a:p>
          <a:p>
            <a:endParaRPr lang="en-US" sz="2800" dirty="0"/>
          </a:p>
          <a:p>
            <a:r>
              <a:rPr lang="en-US" sz="2800" dirty="0">
                <a:solidFill>
                  <a:srgbClr val="0033CC"/>
                </a:solidFill>
              </a:rPr>
              <a:t>Software Requirements</a:t>
            </a:r>
            <a:r>
              <a:rPr lang="en-US" sz="2800" dirty="0"/>
              <a:t>:</a:t>
            </a:r>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Event Management</a:t>
            </a:r>
          </a:p>
          <a:p>
            <a:r>
              <a:rPr lang="en-US" sz="2800" dirty="0"/>
              <a:t>Allows admin to create, update, and delete events and manage event details.</a:t>
            </a:r>
            <a:endParaRPr lang="en-IN" sz="2800" dirty="0"/>
          </a:p>
          <a:p>
            <a:endParaRPr lang="en-IN" sz="2800" dirty="0"/>
          </a:p>
          <a:p>
            <a:r>
              <a:rPr lang="en-IN" sz="2800" b="1" dirty="0"/>
              <a:t>Module 3: Ticket Booking System</a:t>
            </a:r>
          </a:p>
          <a:p>
            <a:r>
              <a:rPr lang="en-US" sz="2800" dirty="0"/>
              <a:t>Enables users to view events, select tickets, and complete the booking process.</a:t>
            </a:r>
            <a:endParaRPr lang="en-IN" sz="2800" dirty="0"/>
          </a:p>
          <a:p>
            <a:endParaRPr lang="en-IN" sz="2800" dirty="0"/>
          </a:p>
          <a:p>
            <a:r>
              <a:rPr lang="en-IN" sz="2800" b="1" dirty="0"/>
              <a:t>Module 4: Payment and Confirmation</a:t>
            </a:r>
          </a:p>
          <a:p>
            <a:r>
              <a:rPr lang="en-US" sz="2800" dirty="0"/>
              <a:t>Generates booking confirmation and allows users to  receive tickets.</a:t>
            </a:r>
            <a:endParaRPr lang="en-IN" sz="2800" dirty="0"/>
          </a:p>
          <a:p>
            <a:endParaRPr lang="en-IN" sz="2800" dirty="0"/>
          </a:p>
          <a:p>
            <a:r>
              <a:rPr lang="en-IN" sz="2800" b="1" dirty="0"/>
              <a:t>Module 4:Notification Module</a:t>
            </a:r>
          </a:p>
          <a:p>
            <a:r>
              <a:rPr lang="en-US" sz="2800" dirty="0"/>
              <a:t>Sends reminders about upcoming events, booking confirmation through email.</a:t>
            </a:r>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50A78A80-4E72-AF46-0880-FB936C91A5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599" y="1502165"/>
            <a:ext cx="10816692" cy="6363908"/>
          </a:xfrm>
          <a:prstGeom prst="rect">
            <a:avLst/>
          </a:prstGeom>
        </p:spPr>
      </p:pic>
      <p:sp>
        <p:nvSpPr>
          <p:cNvPr id="6" name="TextBox 5">
            <a:extLst>
              <a:ext uri="{FF2B5EF4-FFF2-40B4-BE49-F238E27FC236}">
                <a16:creationId xmlns:a16="http://schemas.microsoft.com/office/drawing/2014/main" id="{DC8E6F9C-1A30-B160-5E60-08278D0B9242}"/>
              </a:ext>
            </a:extLst>
          </p:cNvPr>
          <p:cNvSpPr txBox="1"/>
          <p:nvPr/>
        </p:nvSpPr>
        <p:spPr>
          <a:xfrm rot="10800000" flipV="1">
            <a:off x="2971800" y="8228608"/>
            <a:ext cx="11811000" cy="1384995"/>
          </a:xfrm>
          <a:prstGeom prst="rect">
            <a:avLst/>
          </a:prstGeom>
          <a:noFill/>
        </p:spPr>
        <p:txBody>
          <a:bodyPr wrap="square">
            <a:spAutoFit/>
          </a:bodyPr>
          <a:lstStyle/>
          <a:p>
            <a:pPr algn="just"/>
            <a:r>
              <a:rPr lang="en-IN" sz="2800" dirty="0"/>
              <a:t>This is the booking interface for the National Tech Conclave 2026 organized by the Department of Computer Science, where users can enter their details to secure tickets.</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046306" y="93324"/>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A screenshot of a computer&#10;&#10;AI-generated content may be incorrect.">
            <a:extLst>
              <a:ext uri="{FF2B5EF4-FFF2-40B4-BE49-F238E27FC236}">
                <a16:creationId xmlns:a16="http://schemas.microsoft.com/office/drawing/2014/main" id="{63AFE0B0-BA15-E58E-B07A-E5FDD86361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3818" y="2129686"/>
            <a:ext cx="7117080" cy="6519013"/>
          </a:xfrm>
          <a:prstGeom prst="rect">
            <a:avLst/>
          </a:prstGeom>
        </p:spPr>
      </p:pic>
      <p:pic>
        <p:nvPicPr>
          <p:cNvPr id="39" name="Picture 38" descr="A screenshot of a computer&#10;&#10;AI-generated content may be incorrect.">
            <a:extLst>
              <a:ext uri="{FF2B5EF4-FFF2-40B4-BE49-F238E27FC236}">
                <a16:creationId xmlns:a16="http://schemas.microsoft.com/office/drawing/2014/main" id="{A7A021E5-281D-19B3-B8C8-61D9CC6FA4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17341" y="2129687"/>
            <a:ext cx="6954172" cy="6377894"/>
          </a:xfrm>
          <a:prstGeom prst="rect">
            <a:avLst/>
          </a:prstGeom>
        </p:spPr>
      </p:pic>
      <p:sp>
        <p:nvSpPr>
          <p:cNvPr id="42" name="TextBox 41">
            <a:extLst>
              <a:ext uri="{FF2B5EF4-FFF2-40B4-BE49-F238E27FC236}">
                <a16:creationId xmlns:a16="http://schemas.microsoft.com/office/drawing/2014/main" id="{EE655F6F-663E-2878-2B72-5C20AE2917D1}"/>
              </a:ext>
            </a:extLst>
          </p:cNvPr>
          <p:cNvSpPr txBox="1"/>
          <p:nvPr/>
        </p:nvSpPr>
        <p:spPr>
          <a:xfrm rot="12670256">
            <a:off x="5134052" y="9073634"/>
            <a:ext cx="13843840" cy="369332"/>
          </a:xfrm>
          <a:prstGeom prst="rect">
            <a:avLst/>
          </a:prstGeom>
          <a:noFill/>
        </p:spPr>
        <p:txBody>
          <a:bodyPr wrap="square">
            <a:spAutoFit/>
          </a:bodyPr>
          <a:lstStyle/>
          <a:p>
            <a:r>
              <a:rPr lang="en-IN" dirty="0" err="1"/>
              <a:t>os</a:t>
            </a:r>
            <a:r>
              <a:rPr lang="en-IN" dirty="0"/>
              <a:t>,.</a:t>
            </a:r>
          </a:p>
        </p:txBody>
      </p:sp>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A screenshot of a computer screen&#10;&#10;AI-generated content may be incorrect.">
            <a:extLst>
              <a:ext uri="{FF2B5EF4-FFF2-40B4-BE49-F238E27FC236}">
                <a16:creationId xmlns:a16="http://schemas.microsoft.com/office/drawing/2014/main" id="{54D5F443-D1CE-BAC7-3479-A2407A6806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0521" y="1832491"/>
            <a:ext cx="6621730" cy="6191324"/>
          </a:xfrm>
          <a:prstGeom prst="rect">
            <a:avLst/>
          </a:prstGeom>
        </p:spPr>
      </p:pic>
      <p:sp>
        <p:nvSpPr>
          <p:cNvPr id="4" name="TextBox 3">
            <a:extLst>
              <a:ext uri="{FF2B5EF4-FFF2-40B4-BE49-F238E27FC236}">
                <a16:creationId xmlns:a16="http://schemas.microsoft.com/office/drawing/2014/main" id="{368C47C0-B2CD-11CE-EA2D-CF5DD69A41AE}"/>
              </a:ext>
            </a:extLst>
          </p:cNvPr>
          <p:cNvSpPr txBox="1"/>
          <p:nvPr/>
        </p:nvSpPr>
        <p:spPr>
          <a:xfrm>
            <a:off x="1905000" y="8496300"/>
            <a:ext cx="15559662" cy="523220"/>
          </a:xfrm>
          <a:prstGeom prst="rect">
            <a:avLst/>
          </a:prstGeom>
          <a:noFill/>
        </p:spPr>
        <p:txBody>
          <a:bodyPr wrap="square">
            <a:spAutoFit/>
          </a:bodyPr>
          <a:lstStyle/>
          <a:p>
            <a:r>
              <a:rPr lang="en-IN" sz="2800" dirty="0"/>
              <a:t> It displays a successful booking confirmation for the event and sends automated </a:t>
            </a:r>
            <a:r>
              <a:rPr lang="en-IN" sz="2800" dirty="0" err="1"/>
              <a:t>gmail</a:t>
            </a:r>
            <a:r>
              <a:rPr lang="en-IN" sz="2800" dirty="0"/>
              <a:t> to the user.</a:t>
            </a:r>
            <a:endParaRPr lang="en-IN" dirty="0"/>
          </a:p>
        </p:txBody>
      </p:sp>
      <p:pic>
        <p:nvPicPr>
          <p:cNvPr id="6" name="Picture 5" descr="A screenshot of a computer&#10;&#10;AI-generated content may be incorrect.">
            <a:extLst>
              <a:ext uri="{FF2B5EF4-FFF2-40B4-BE49-F238E27FC236}">
                <a16:creationId xmlns:a16="http://schemas.microsoft.com/office/drawing/2014/main" id="{E624A1FE-A7C0-1F2E-194D-E71DDEF646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57919" y="1873391"/>
            <a:ext cx="7103479" cy="5923415"/>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120618" y="2367684"/>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0" name="Picture 39" descr="A computer screen with text on it&#10;&#10;AI-generated content may be incorrect.">
            <a:extLst>
              <a:ext uri="{FF2B5EF4-FFF2-40B4-BE49-F238E27FC236}">
                <a16:creationId xmlns:a16="http://schemas.microsoft.com/office/drawing/2014/main" id="{75C501E0-B49D-ED73-5C26-5754A0819F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4567" y="2115734"/>
            <a:ext cx="12895920" cy="6300424"/>
          </a:xfrm>
          <a:prstGeom prst="rect">
            <a:avLst/>
          </a:prstGeom>
        </p:spPr>
      </p:pic>
      <p:sp>
        <p:nvSpPr>
          <p:cNvPr id="42" name="TextBox 41">
            <a:extLst>
              <a:ext uri="{FF2B5EF4-FFF2-40B4-BE49-F238E27FC236}">
                <a16:creationId xmlns:a16="http://schemas.microsoft.com/office/drawing/2014/main" id="{E7291C8C-6251-3B54-36CF-9D55A1FC499F}"/>
              </a:ext>
            </a:extLst>
          </p:cNvPr>
          <p:cNvSpPr txBox="1"/>
          <p:nvPr/>
        </p:nvSpPr>
        <p:spPr>
          <a:xfrm>
            <a:off x="2743200" y="8572500"/>
            <a:ext cx="13570220" cy="954107"/>
          </a:xfrm>
          <a:prstGeom prst="rect">
            <a:avLst/>
          </a:prstGeom>
          <a:noFill/>
        </p:spPr>
        <p:txBody>
          <a:bodyPr wrap="square">
            <a:spAutoFit/>
          </a:bodyPr>
          <a:lstStyle/>
          <a:p>
            <a:r>
              <a:rPr lang="en-IN" sz="2800" dirty="0"/>
              <a:t>It confirms the application is working locally, allowing users to access the internal event ticket booking system through the browser</a:t>
            </a:r>
            <a:r>
              <a:rPr lang="en-IN" dirty="0"/>
              <a:t>.</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736</TotalTime>
  <Words>926</Words>
  <Application>Microsoft Office PowerPoint</Application>
  <PresentationFormat>Custom</PresentationFormat>
  <Paragraphs>323</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Gotham Bold Italics</vt:lpstr>
      <vt:lpstr>Gotham</vt:lpstr>
      <vt:lpstr>Bookman Old Style</vt:lpstr>
      <vt:lpstr>Times New Roman</vt:lpstr>
      <vt:lpstr>Cambria</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swetha pavani</cp:lastModifiedBy>
  <cp:revision>28</cp:revision>
  <dcterms:created xsi:type="dcterms:W3CDTF">2006-08-16T00:00:00Z</dcterms:created>
  <dcterms:modified xsi:type="dcterms:W3CDTF">2026-05-05T16:12:35Z</dcterms:modified>
  <dc:identifier>DAHCaYqJ9OU</dc:identifier>
</cp:coreProperties>
</file>