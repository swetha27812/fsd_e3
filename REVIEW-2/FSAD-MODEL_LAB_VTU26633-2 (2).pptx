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6" r:id="rId10"/>
    <p:sldId id="269" r:id="rId11"/>
    <p:sldId id="267" r:id="rId12"/>
    <p:sldId id="268" r:id="rId13"/>
    <p:sldId id="270" r:id="rId14"/>
    <p:sldId id="265" r:id="rId15"/>
  </p:sldIdLst>
  <p:sldSz cx="18288000" cy="10287000"/>
  <p:notesSz cx="6858000" cy="9144000"/>
  <p:embeddedFontLst>
    <p:embeddedFont>
      <p:font typeface="Bookman Old Style" panose="02050604050505020204" pitchFamily="18" charset="0"/>
      <p:regular r:id="rId16"/>
      <p:bold r:id="rId17"/>
      <p:italic r:id="rId18"/>
      <p:boldItalic r:id="rId19"/>
    </p:embeddedFont>
    <p:embeddedFont>
      <p:font typeface="Cambria" panose="02040503050406030204" pitchFamily="18" charset="0"/>
      <p:regular r:id="rId20"/>
      <p:bold r:id="rId21"/>
      <p:italic r:id="rId22"/>
      <p:boldItalic r:id="rId23"/>
    </p:embeddedFont>
    <p:embeddedFont>
      <p:font typeface="Gotham" panose="020B0604020202020204" charset="0"/>
      <p:regular r:id="rId24"/>
    </p:embeddedFont>
    <p:embeddedFont>
      <p:font typeface="Gotham Bold Italics" panose="020B0604020202020204"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1" d="100"/>
          <a:sy n="51" d="100"/>
        </p:scale>
        <p:origin x="72" y="37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8.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221074" y="374832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MODEL LAB</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17-04-2026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219200" y="6057900"/>
            <a:ext cx="15392400" cy="584775"/>
          </a:xfrm>
          <a:prstGeom prst="rect">
            <a:avLst/>
          </a:prstGeom>
          <a:noFill/>
        </p:spPr>
        <p:txBody>
          <a:bodyPr wrap="square" rtlCol="0">
            <a:spAutoFit/>
          </a:bodyPr>
          <a:lstStyle/>
          <a:p>
            <a:pPr algn="ctr"/>
            <a:r>
              <a:rPr lang="en-US" sz="3200" b="1" dirty="0">
                <a:solidFill>
                  <a:srgbClr val="0033CC"/>
                </a:solidFill>
                <a:latin typeface="Times New Roman" panose="02020603050405020304" pitchFamily="18" charset="0"/>
                <a:cs typeface="Times New Roman" panose="02020603050405020304" pitchFamily="18" charset="0"/>
              </a:rPr>
              <a:t>TICKET BOOKING OF AN INTERNAL DEPARTMENT EVENT</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PAVANI SWETHA – VTU26633 – 23UECS0843.</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72800" y="7789921"/>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err="1">
                <a:latin typeface="Cambria" panose="02040503050406030204" pitchFamily="18" charset="0"/>
                <a:ea typeface="Cambria" panose="02040503050406030204" pitchFamily="18" charset="0"/>
              </a:rPr>
              <a:t>Dr.Hafizur</a:t>
            </a:r>
            <a:r>
              <a:rPr lang="en-US" sz="3000" dirty="0">
                <a:latin typeface="Cambria" panose="02040503050406030204" pitchFamily="18" charset="0"/>
                <a:ea typeface="Cambria" panose="02040503050406030204" pitchFamily="18" charset="0"/>
              </a:rPr>
              <a:t> Rahman – Assistant Professor</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059427" y="6896100"/>
            <a:ext cx="14298724"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4-Quality Education</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D3EE6A5C-F172-9DBD-5BF8-53A62563747B}"/>
              </a:ext>
            </a:extLst>
          </p:cNvPr>
          <p:cNvSpPr txBox="1"/>
          <p:nvPr/>
        </p:nvSpPr>
        <p:spPr>
          <a:xfrm>
            <a:off x="2438400" y="2247900"/>
            <a:ext cx="13296900" cy="5693866"/>
          </a:xfrm>
          <a:prstGeom prst="rect">
            <a:avLst/>
          </a:prstGeom>
          <a:noFill/>
        </p:spPr>
        <p:txBody>
          <a:bodyPr wrap="square">
            <a:spAutoFit/>
          </a:bodyPr>
          <a:lstStyle/>
          <a:p>
            <a:pPr algn="just"/>
            <a:r>
              <a:rPr lang="en-US" sz="2800" dirty="0"/>
              <a:t>In academic institutions, organizing internal department events requires efficient coordination, especially in managing participant entry through ticketing. Traditional methods such as manual registration or paper-based ticketing often lead to confusion, errors, and lack of proper record maintenance. To overcome these challenges, a digital ticket booking system is essential.</a:t>
            </a:r>
          </a:p>
          <a:p>
            <a:pPr algn="just"/>
            <a:r>
              <a:rPr lang="en-US" sz="2800" dirty="0"/>
              <a:t>The proposed system provides an online platform where students and staff can easily view event details and book tickets in advance. It ensures real-time tracking of ticket availability and prevents overbooking. The system maintains a centralized database, allowing organizers to manage events and participants efficiently.</a:t>
            </a:r>
          </a:p>
          <a:p>
            <a:pPr algn="just"/>
            <a:r>
              <a:rPr lang="en-US" sz="2800" dirty="0"/>
              <a:t>This project enhances transparency, reduces manual workload, and improves user experience by providing a simple and user-friendly interface. It is highly relevant in today’s digital environment, where automation plays a key role in improving efficiency and accuracy.</a:t>
            </a: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1905000" y="2247899"/>
            <a:ext cx="14020800" cy="9140964"/>
          </a:xfrm>
          <a:prstGeom prst="rect">
            <a:avLst/>
          </a:prstGeom>
          <a:noFill/>
        </p:spPr>
        <p:txBody>
          <a:bodyPr wrap="square" rtlCol="0">
            <a:spAutoFit/>
          </a:bodyPr>
          <a:lstStyle/>
          <a:p>
            <a:pPr algn="just"/>
            <a:r>
              <a:rPr lang="en-US" sz="2800" dirty="0"/>
              <a:t> In many departments, the process of booking tickets for internal events is still handled manually through paper-based entries or simple spreadsheets. This approach often results in issues such as duplicate bookings, incorrect data entry, and difficulty in tracking the number of participants. There is no proper system to monitor ticket availability in real time, which may lead to overbooking or last-minute confusion during events. Additionally, managing and verifying participant details becomes time-consuming for organizers.</a:t>
            </a:r>
          </a:p>
          <a:p>
            <a:pPr algn="just"/>
            <a:r>
              <a:rPr lang="en-US" sz="2800" dirty="0"/>
              <a:t>Due to the absence of a centralized and automated system, the overall efficiency of event management is reduced. Therefore, there is a need for a reliable, user-friendly, and automated ticket booking system that can streamline the process, ensure accurate data handling, and improve the overall management of internal department events.</a:t>
            </a:r>
          </a:p>
          <a:p>
            <a:pPr marL="457200" indent="-457200" algn="just">
              <a:buFontTx/>
              <a:buChar char="-"/>
            </a:pPr>
            <a:endParaRPr lang="en-US" sz="2800" dirty="0"/>
          </a:p>
          <a:p>
            <a:pPr marL="457200" indent="-457200" algn="just">
              <a:buFontTx/>
              <a:buChar char="-"/>
            </a:pPr>
            <a:endParaRPr lang="en-US" sz="2800" dirty="0"/>
          </a:p>
          <a:p>
            <a:pPr marL="457200" indent="-457200" algn="just">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2" name="TextBox 51">
            <a:extLst>
              <a:ext uri="{FF2B5EF4-FFF2-40B4-BE49-F238E27FC236}">
                <a16:creationId xmlns:a16="http://schemas.microsoft.com/office/drawing/2014/main" id="{056A0A3A-1541-5EC0-5370-02DA282ABDDE}"/>
              </a:ext>
            </a:extLst>
          </p:cNvPr>
          <p:cNvSpPr txBox="1"/>
          <p:nvPr/>
        </p:nvSpPr>
        <p:spPr>
          <a:xfrm>
            <a:off x="2285396" y="2222810"/>
            <a:ext cx="15082325" cy="1384995"/>
          </a:xfrm>
          <a:prstGeom prst="rect">
            <a:avLst/>
          </a:prstGeom>
          <a:noFill/>
        </p:spPr>
        <p:txBody>
          <a:bodyPr wrap="square" rtlCol="0">
            <a:spAutoFit/>
          </a:bodyPr>
          <a:lstStyle/>
          <a:p>
            <a:pPr algn="just"/>
            <a:r>
              <a:rPr lang="en-IN" sz="2800" dirty="0"/>
              <a:t>•</a:t>
            </a:r>
            <a:r>
              <a:rPr lang="en-US" sz="2800" dirty="0"/>
              <a:t>  To design and develop  Ticket booking of an Internal Department Event</a:t>
            </a:r>
          </a:p>
          <a:p>
            <a:pPr algn="just"/>
            <a:r>
              <a:rPr lang="en-IN" sz="2800" dirty="0"/>
              <a:t>•</a:t>
            </a:r>
            <a:r>
              <a:rPr lang="en-US" sz="2800" dirty="0"/>
              <a:t>  To implement efficient </a:t>
            </a:r>
            <a:r>
              <a:rPr lang="en-US" sz="2800" dirty="0" err="1"/>
              <a:t>booking,tracking</a:t>
            </a:r>
            <a:r>
              <a:rPr lang="en-US" sz="2800" dirty="0"/>
              <a:t> and management of event tickets.</a:t>
            </a:r>
          </a:p>
          <a:p>
            <a:pPr algn="just"/>
            <a:r>
              <a:rPr lang="en-IN" sz="2800" dirty="0"/>
              <a:t>•  T</a:t>
            </a:r>
            <a:r>
              <a:rPr lang="en-US" sz="2800" dirty="0"/>
              <a:t>o ensure user friendly experience for booking tickets.</a:t>
            </a: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519099" y="2351088"/>
            <a:ext cx="15059544" cy="6986528"/>
          </a:xfrm>
          <a:prstGeom prst="rect">
            <a:avLst/>
          </a:prstGeom>
          <a:noFill/>
        </p:spPr>
        <p:txBody>
          <a:bodyPr wrap="square" rtlCol="0">
            <a:spAutoFit/>
          </a:bodyPr>
          <a:lstStyle/>
          <a:p>
            <a:pPr algn="just"/>
            <a:r>
              <a:rPr lang="en-IN" sz="2800" dirty="0"/>
              <a:t> •   </a:t>
            </a:r>
            <a:r>
              <a:rPr lang="en-US" sz="2800" dirty="0"/>
              <a:t>Online ticket booking system for students and staff</a:t>
            </a:r>
          </a:p>
          <a:p>
            <a:pPr algn="just"/>
            <a:r>
              <a:rPr lang="en-US" sz="2800" dirty="0"/>
              <a:t> </a:t>
            </a:r>
            <a:r>
              <a:rPr lang="en-IN" sz="2800" dirty="0"/>
              <a:t>•</a:t>
            </a:r>
            <a:r>
              <a:rPr lang="en-US" sz="2800" dirty="0"/>
              <a:t>   User registration and login functionality</a:t>
            </a:r>
          </a:p>
          <a:p>
            <a:pPr algn="just"/>
            <a:r>
              <a:rPr lang="en-US" sz="2800" dirty="0"/>
              <a:t> </a:t>
            </a:r>
            <a:r>
              <a:rPr lang="en-IN" sz="2800" dirty="0"/>
              <a:t>•</a:t>
            </a:r>
            <a:r>
              <a:rPr lang="en-US" sz="2800" dirty="0"/>
              <a:t>   Real-time ticket availability tracking</a:t>
            </a:r>
          </a:p>
          <a:p>
            <a:pPr algn="just"/>
            <a:r>
              <a:rPr lang="en-US" sz="2800" dirty="0"/>
              <a:t> </a:t>
            </a:r>
            <a:r>
              <a:rPr lang="en-IN" sz="2800" dirty="0"/>
              <a:t>•</a:t>
            </a:r>
            <a:r>
              <a:rPr lang="en-US" sz="2800" dirty="0"/>
              <a:t>   Admin panel to manage events and bookings</a:t>
            </a:r>
          </a:p>
          <a:p>
            <a:pPr algn="just"/>
            <a:r>
              <a:rPr lang="en-US" sz="2800" dirty="0"/>
              <a:t> </a:t>
            </a:r>
            <a:r>
              <a:rPr lang="en-IN" sz="2800" dirty="0"/>
              <a:t>•</a:t>
            </a:r>
            <a:r>
              <a:rPr lang="en-US" sz="2800" dirty="0"/>
              <a:t>   Secure data storage using database</a:t>
            </a:r>
          </a:p>
          <a:p>
            <a:pPr algn="just"/>
            <a:r>
              <a:rPr lang="en-US" sz="2800" dirty="0"/>
              <a:t> </a:t>
            </a:r>
            <a:r>
              <a:rPr lang="en-IN" sz="2800" dirty="0"/>
              <a:t>•</a:t>
            </a:r>
            <a:r>
              <a:rPr lang="en-US" sz="2800" dirty="0"/>
              <a:t>   Automatic booking confirmation</a:t>
            </a:r>
          </a:p>
          <a:p>
            <a:pPr algn="just"/>
            <a:r>
              <a:rPr lang="en-US" sz="2800" dirty="0"/>
              <a:t> </a:t>
            </a:r>
            <a:r>
              <a:rPr lang="en-IN" sz="2800" dirty="0"/>
              <a:t>•</a:t>
            </a:r>
            <a:r>
              <a:rPr lang="en-US" sz="2800" dirty="0"/>
              <a:t>   Easy cancellation and updates</a:t>
            </a:r>
          </a:p>
          <a:p>
            <a:pPr algn="just"/>
            <a:r>
              <a:rPr lang="en-US" sz="2800" dirty="0"/>
              <a:t> </a:t>
            </a:r>
            <a:r>
              <a:rPr lang="en-IN" sz="2800" dirty="0"/>
              <a:t>•</a:t>
            </a:r>
            <a:r>
              <a:rPr lang="en-US" sz="2800" dirty="0"/>
              <a:t>  Reduces manual errors and saves time</a:t>
            </a:r>
          </a:p>
          <a:p>
            <a:pPr marL="457200" indent="-457200" algn="just">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1036301" y="1457071"/>
            <a:ext cx="16300190" cy="9140964"/>
          </a:xfrm>
          <a:prstGeom prst="rect">
            <a:avLst/>
          </a:prstGeom>
          <a:noFill/>
        </p:spPr>
        <p:txBody>
          <a:bodyPr wrap="square" rtlCol="0">
            <a:spAutoFit/>
          </a:bodyPr>
          <a:lstStyle/>
          <a:p>
            <a:pPr marL="457200" indent="-457200">
              <a:buFontTx/>
              <a:buChar char="-"/>
            </a:pPr>
            <a:endParaRPr lang="en-US" sz="2800" dirty="0"/>
          </a:p>
          <a:p>
            <a:r>
              <a:rPr lang="en-US" sz="2800" dirty="0"/>
              <a:t>         </a:t>
            </a:r>
          </a:p>
          <a:p>
            <a:pPr marL="1371600" lvl="2" indent="-457200">
              <a:buFont typeface="Wingdings" panose="05000000000000000000" pitchFamily="2" charset="2"/>
              <a:buChar char="Ø"/>
            </a:pPr>
            <a:endParaRPr lang="en-US" sz="2800" b="1" dirty="0"/>
          </a:p>
          <a:p>
            <a:pPr marL="1371600" lvl="2" indent="-457200" algn="just">
              <a:buFont typeface="Wingdings" panose="05000000000000000000" pitchFamily="2" charset="2"/>
              <a:buChar char="Ø"/>
            </a:pPr>
            <a:r>
              <a:rPr lang="en-US" sz="2800" b="1" dirty="0"/>
              <a:t>Input</a:t>
            </a:r>
          </a:p>
          <a:p>
            <a:pPr lvl="2" algn="just"/>
            <a:r>
              <a:rPr lang="en-US" sz="2800" dirty="0"/>
              <a:t> User details ,event selection.</a:t>
            </a:r>
          </a:p>
          <a:p>
            <a:pPr marL="1371600" lvl="2" indent="-457200" algn="just">
              <a:buFont typeface="Wingdings" panose="05000000000000000000" pitchFamily="2" charset="2"/>
              <a:buChar char="Ø"/>
            </a:pPr>
            <a:r>
              <a:rPr lang="en-US" sz="2800" b="1" dirty="0"/>
              <a:t>Processing</a:t>
            </a:r>
          </a:p>
          <a:p>
            <a:pPr lvl="2" algn="just"/>
            <a:r>
              <a:rPr lang="en-US" sz="2800" dirty="0"/>
              <a:t>Booking </a:t>
            </a:r>
            <a:r>
              <a:rPr lang="en-US" sz="2800" dirty="0" err="1"/>
              <a:t>validation,seat</a:t>
            </a:r>
            <a:r>
              <a:rPr lang="en-US" sz="2800" dirty="0"/>
              <a:t> availability check expenses</a:t>
            </a:r>
          </a:p>
          <a:p>
            <a:pPr marL="1371600" lvl="2" indent="-457200" algn="just">
              <a:buFont typeface="Wingdings" panose="05000000000000000000" pitchFamily="2" charset="2"/>
              <a:buChar char="Ø"/>
            </a:pPr>
            <a:r>
              <a:rPr lang="en-US" sz="2800" b="1" dirty="0"/>
              <a:t>Database</a:t>
            </a:r>
          </a:p>
          <a:p>
            <a:pPr lvl="2" algn="just"/>
            <a:r>
              <a:rPr lang="en-US" sz="2800" dirty="0"/>
              <a:t>Stores user </a:t>
            </a:r>
            <a:r>
              <a:rPr lang="en-US" sz="2800" dirty="0" err="1"/>
              <a:t>data,booking</a:t>
            </a:r>
            <a:r>
              <a:rPr lang="en-US" sz="2800" dirty="0"/>
              <a:t> </a:t>
            </a:r>
            <a:r>
              <a:rPr lang="en-US" sz="2800" dirty="0" err="1"/>
              <a:t>data,etc</a:t>
            </a:r>
            <a:r>
              <a:rPr lang="en-US" sz="2800" dirty="0"/>
              <a:t>.</a:t>
            </a:r>
          </a:p>
          <a:p>
            <a:pPr marL="1371600" lvl="2" indent="-457200" algn="just">
              <a:buFont typeface="Wingdings" panose="05000000000000000000" pitchFamily="2" charset="2"/>
              <a:buChar char="Ø"/>
            </a:pPr>
            <a:r>
              <a:rPr lang="en-US" sz="2800" b="1" dirty="0"/>
              <a:t>Output</a:t>
            </a:r>
          </a:p>
          <a:p>
            <a:pPr lvl="2" algn="just"/>
            <a:r>
              <a:rPr lang="en-US" sz="2800" dirty="0"/>
              <a:t>Displays booking </a:t>
            </a:r>
            <a:r>
              <a:rPr lang="en-US" sz="2800" dirty="0" err="1"/>
              <a:t>confirmation,ticket</a:t>
            </a:r>
            <a:r>
              <a:rPr lang="en-US" sz="2800" dirty="0"/>
              <a:t> details.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2" name="Picture 31">
            <a:extLst>
              <a:ext uri="{FF2B5EF4-FFF2-40B4-BE49-F238E27FC236}">
                <a16:creationId xmlns:a16="http://schemas.microsoft.com/office/drawing/2014/main" id="{E901327E-E944-FD24-ED00-D4F64CA30DC8}"/>
              </a:ext>
            </a:extLst>
          </p:cNvPr>
          <p:cNvPicPr>
            <a:picLocks noChangeAspect="1"/>
          </p:cNvPicPr>
          <p:nvPr/>
        </p:nvPicPr>
        <p:blipFill>
          <a:blip r:embed="rId4"/>
          <a:stretch>
            <a:fillRect/>
          </a:stretch>
        </p:blipFill>
        <p:spPr>
          <a:xfrm>
            <a:off x="10058400" y="1842047"/>
            <a:ext cx="5867400" cy="791130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8845A7F-70EC-67D5-8262-867BFAC9ABB0}"/>
              </a:ext>
            </a:extLst>
          </p:cNvPr>
          <p:cNvPicPr>
            <a:picLocks noChangeAspect="1"/>
          </p:cNvPicPr>
          <p:nvPr/>
        </p:nvPicPr>
        <p:blipFill>
          <a:blip r:embed="rId4"/>
          <a:stretch>
            <a:fillRect/>
          </a:stretch>
        </p:blipFill>
        <p:spPr>
          <a:xfrm>
            <a:off x="5562600" y="1982349"/>
            <a:ext cx="7239000" cy="790777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16949" y="2036076"/>
            <a:ext cx="15006125" cy="8279190"/>
          </a:xfrm>
          <a:prstGeom prst="rect">
            <a:avLst/>
          </a:prstGeom>
          <a:noFill/>
        </p:spPr>
        <p:txBody>
          <a:bodyPr wrap="square" rtlCol="0">
            <a:spAutoFit/>
          </a:bodyPr>
          <a:lstStyle/>
          <a:p>
            <a:pPr marL="457200" indent="-457200">
              <a:buFontTx/>
              <a:buChar char="-"/>
            </a:pPr>
            <a:r>
              <a:rPr lang="en-US" sz="2800" dirty="0"/>
              <a:t>Frontend: React JS,JSX,CSS3</a:t>
            </a:r>
          </a:p>
          <a:p>
            <a:pPr marL="457200" indent="-457200">
              <a:buFontTx/>
              <a:buChar char="-"/>
            </a:pPr>
            <a:r>
              <a:rPr lang="en-US" sz="2800" dirty="0"/>
              <a:t>Software </a:t>
            </a:r>
            <a:r>
              <a:rPr lang="en-US" sz="2800" dirty="0" err="1"/>
              <a:t>Tools:VS</a:t>
            </a:r>
            <a:r>
              <a:rPr lang="en-US" sz="2800" dirty="0"/>
              <a:t> Code ,MySQL Workbench.</a:t>
            </a:r>
          </a:p>
          <a:p>
            <a:pPr marL="457200" indent="-457200">
              <a:buFontTx/>
              <a:buChar char="-"/>
            </a:pPr>
            <a:r>
              <a:rPr lang="en-US" sz="2800" dirty="0"/>
              <a:t>Hardware </a:t>
            </a:r>
            <a:r>
              <a:rPr lang="en-US" sz="2800" dirty="0" err="1"/>
              <a:t>Requirements:Windows</a:t>
            </a:r>
            <a:r>
              <a:rPr lang="en-US" sz="2800" dirty="0"/>
              <a:t>/Linux/macOS</a:t>
            </a:r>
          </a:p>
          <a:p>
            <a:r>
              <a:rPr lang="en-US" sz="2800" dirty="0"/>
              <a:t>-     Hardware Requirements: Standard PC </a:t>
            </a:r>
            <a:r>
              <a:rPr lang="en-US" sz="2800"/>
              <a:t>with Internet</a:t>
            </a:r>
            <a:endParaRPr lang="en-US" sz="2800" dirty="0"/>
          </a:p>
          <a:p>
            <a:r>
              <a:rPr lang="en-US" sz="2800" dirty="0"/>
              <a:t>        Web Browser</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90499" y="389756"/>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1728051" y="1780920"/>
            <a:ext cx="15082325" cy="4832092"/>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6" name="Picture 5">
            <a:extLst>
              <a:ext uri="{FF2B5EF4-FFF2-40B4-BE49-F238E27FC236}">
                <a16:creationId xmlns:a16="http://schemas.microsoft.com/office/drawing/2014/main" id="{D053CD9C-75B8-F6DD-E86B-6FC60F795715}"/>
              </a:ext>
            </a:extLst>
          </p:cNvPr>
          <p:cNvPicPr>
            <a:picLocks noChangeAspect="1"/>
          </p:cNvPicPr>
          <p:nvPr/>
        </p:nvPicPr>
        <p:blipFill>
          <a:blip r:embed="rId4"/>
          <a:stretch>
            <a:fillRect/>
          </a:stretch>
        </p:blipFill>
        <p:spPr>
          <a:xfrm>
            <a:off x="2744212" y="1870906"/>
            <a:ext cx="12799574" cy="6545187"/>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AutoShape 2">
            <a:extLst>
              <a:ext uri="{FF2B5EF4-FFF2-40B4-BE49-F238E27FC236}">
                <a16:creationId xmlns:a16="http://schemas.microsoft.com/office/drawing/2014/main" id="{76EEDF0A-EFCE-EAC7-36B5-1FA20CF9A6A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8" name="TextBox 37">
            <a:extLst>
              <a:ext uri="{FF2B5EF4-FFF2-40B4-BE49-F238E27FC236}">
                <a16:creationId xmlns:a16="http://schemas.microsoft.com/office/drawing/2014/main" id="{29F52D58-0271-A28E-302B-823618814C1C}"/>
              </a:ext>
            </a:extLst>
          </p:cNvPr>
          <p:cNvSpPr txBox="1"/>
          <p:nvPr/>
        </p:nvSpPr>
        <p:spPr>
          <a:xfrm rot="10280600">
            <a:off x="-1923913" y="9794537"/>
            <a:ext cx="17780810" cy="369332"/>
          </a:xfrm>
          <a:prstGeom prst="rect">
            <a:avLst/>
          </a:prstGeom>
          <a:noFill/>
        </p:spPr>
        <p:txBody>
          <a:bodyPr wrap="square">
            <a:spAutoFit/>
          </a:bodyPr>
          <a:lstStyle/>
          <a:p>
            <a:r>
              <a:rPr lang="en-IN" dirty="0"/>
              <a:t>.</a:t>
            </a:r>
          </a:p>
        </p:txBody>
      </p:sp>
      <p:pic>
        <p:nvPicPr>
          <p:cNvPr id="5" name="Picture 4">
            <a:extLst>
              <a:ext uri="{FF2B5EF4-FFF2-40B4-BE49-F238E27FC236}">
                <a16:creationId xmlns:a16="http://schemas.microsoft.com/office/drawing/2014/main" id="{7E7777A9-3CD5-A0E8-3349-56F3652C5787}"/>
              </a:ext>
            </a:extLst>
          </p:cNvPr>
          <p:cNvPicPr>
            <a:picLocks noChangeAspect="1"/>
          </p:cNvPicPr>
          <p:nvPr/>
        </p:nvPicPr>
        <p:blipFill>
          <a:blip r:embed="rId4"/>
          <a:stretch>
            <a:fillRect/>
          </a:stretch>
        </p:blipFill>
        <p:spPr>
          <a:xfrm>
            <a:off x="2838179" y="2080573"/>
            <a:ext cx="11972292" cy="7019925"/>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C7CF20EF-980A-2D88-E968-DCB5B8BC6CF8}"/>
              </a:ext>
            </a:extLst>
          </p:cNvPr>
          <p:cNvGrpSpPr/>
          <p:nvPr/>
        </p:nvGrpSpPr>
        <p:grpSpPr>
          <a:xfrm>
            <a:off x="16313420" y="-302404"/>
            <a:ext cx="11162508"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936606" y="2571224"/>
            <a:ext cx="11430000"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5" name="TextBox 4">
            <a:extLst>
              <a:ext uri="{FF2B5EF4-FFF2-40B4-BE49-F238E27FC236}">
                <a16:creationId xmlns:a16="http://schemas.microsoft.com/office/drawing/2014/main" id="{2DB1BF35-6994-08F5-1AD8-3CF23D95CE0B}"/>
              </a:ext>
            </a:extLst>
          </p:cNvPr>
          <p:cNvSpPr txBox="1"/>
          <p:nvPr/>
        </p:nvSpPr>
        <p:spPr>
          <a:xfrm rot="21125102" flipV="1">
            <a:off x="-3858297" y="8831243"/>
            <a:ext cx="19481754" cy="646331"/>
          </a:xfrm>
          <a:prstGeom prst="rect">
            <a:avLst/>
          </a:prstGeom>
          <a:noFill/>
        </p:spPr>
        <p:txBody>
          <a:bodyPr wrap="square">
            <a:spAutoFit/>
          </a:bodyPr>
          <a:lstStyle/>
          <a:p>
            <a:r>
              <a:rPr lang="en-IN" dirty="0"/>
              <a:t>.</a:t>
            </a:r>
          </a:p>
          <a:p>
            <a:r>
              <a:rPr lang="en-IN" dirty="0"/>
              <a:t>I</a:t>
            </a:r>
          </a:p>
        </p:txBody>
      </p:sp>
      <p:pic>
        <p:nvPicPr>
          <p:cNvPr id="4" name="Picture 3">
            <a:extLst>
              <a:ext uri="{FF2B5EF4-FFF2-40B4-BE49-F238E27FC236}">
                <a16:creationId xmlns:a16="http://schemas.microsoft.com/office/drawing/2014/main" id="{1D5C5061-8FE2-7F2E-CE20-7F2E858B726A}"/>
              </a:ext>
            </a:extLst>
          </p:cNvPr>
          <p:cNvPicPr>
            <a:picLocks noChangeAspect="1"/>
          </p:cNvPicPr>
          <p:nvPr/>
        </p:nvPicPr>
        <p:blipFill>
          <a:blip r:embed="rId4"/>
          <a:stretch>
            <a:fillRect/>
          </a:stretch>
        </p:blipFill>
        <p:spPr>
          <a:xfrm>
            <a:off x="2466309" y="2247900"/>
            <a:ext cx="12893670" cy="6656357"/>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145745" y="1844705"/>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3" name="TextBox 2">
            <a:extLst>
              <a:ext uri="{FF2B5EF4-FFF2-40B4-BE49-F238E27FC236}">
                <a16:creationId xmlns:a16="http://schemas.microsoft.com/office/drawing/2014/main" id="{66508D37-21A9-3103-34E7-0098F0503A82}"/>
              </a:ext>
            </a:extLst>
          </p:cNvPr>
          <p:cNvSpPr txBox="1"/>
          <p:nvPr/>
        </p:nvSpPr>
        <p:spPr>
          <a:xfrm>
            <a:off x="2145746" y="5067300"/>
            <a:ext cx="20502150" cy="2739211"/>
          </a:xfrm>
          <a:prstGeom prst="rect">
            <a:avLst/>
          </a:prstGeom>
          <a:noFill/>
        </p:spPr>
        <p:txBody>
          <a:bodyPr wrap="square">
            <a:spAutoFit/>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sz="2800" b="1" dirty="0"/>
          </a:p>
        </p:txBody>
      </p:sp>
      <p:pic>
        <p:nvPicPr>
          <p:cNvPr id="4" name="Picture 3">
            <a:extLst>
              <a:ext uri="{FF2B5EF4-FFF2-40B4-BE49-F238E27FC236}">
                <a16:creationId xmlns:a16="http://schemas.microsoft.com/office/drawing/2014/main" id="{01120733-18EC-4CF2-7F61-4C8FBC1852A4}"/>
              </a:ext>
            </a:extLst>
          </p:cNvPr>
          <p:cNvPicPr>
            <a:picLocks noChangeAspect="1"/>
          </p:cNvPicPr>
          <p:nvPr/>
        </p:nvPicPr>
        <p:blipFill>
          <a:blip r:embed="rId4"/>
          <a:stretch>
            <a:fillRect/>
          </a:stretch>
        </p:blipFill>
        <p:spPr>
          <a:xfrm>
            <a:off x="2145744" y="1982349"/>
            <a:ext cx="13171830" cy="7309726"/>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5A7EE37-39D4-0253-2520-696448C2176D}"/>
              </a:ext>
            </a:extLst>
          </p:cNvPr>
          <p:cNvSpPr txBox="1"/>
          <p:nvPr/>
        </p:nvSpPr>
        <p:spPr>
          <a:xfrm>
            <a:off x="2209800" y="2015465"/>
            <a:ext cx="14984945" cy="4401205"/>
          </a:xfrm>
          <a:prstGeom prst="rect">
            <a:avLst/>
          </a:prstGeom>
          <a:noFill/>
        </p:spPr>
        <p:txBody>
          <a:bodyPr wrap="square">
            <a:spAutoFit/>
          </a:bodyPr>
          <a:lstStyle/>
          <a:p>
            <a:r>
              <a:rPr lang="en-IN" sz="2800" b="1" dirty="0"/>
              <a:t>ADVANTAGES</a:t>
            </a:r>
            <a:r>
              <a:rPr lang="en-IN" sz="2800" dirty="0"/>
              <a:t>:</a:t>
            </a:r>
          </a:p>
          <a:p>
            <a:r>
              <a:rPr lang="en-IN" sz="2800" dirty="0"/>
              <a:t>• Easy to use and user-friendly.</a:t>
            </a:r>
          </a:p>
          <a:p>
            <a:r>
              <a:rPr lang="en-IN" sz="2800" dirty="0"/>
              <a:t>• Accurate data management.</a:t>
            </a:r>
          </a:p>
          <a:p>
            <a:r>
              <a:rPr lang="en-IN" sz="2800" dirty="0"/>
              <a:t>• Provides visual insights.</a:t>
            </a:r>
          </a:p>
          <a:p>
            <a:r>
              <a:rPr lang="en-IN" sz="2800" dirty="0"/>
              <a:t>• Saves time compared to manual methods.</a:t>
            </a:r>
          </a:p>
          <a:p>
            <a:endParaRPr lang="en-IN" sz="2800" dirty="0"/>
          </a:p>
          <a:p>
            <a:r>
              <a:rPr lang="en-IN" sz="2800" b="1" dirty="0"/>
              <a:t>LIMITATIONS</a:t>
            </a:r>
            <a:r>
              <a:rPr lang="en-IN" sz="2800" dirty="0"/>
              <a:t>:</a:t>
            </a:r>
          </a:p>
          <a:p>
            <a:r>
              <a:rPr lang="en-IN" sz="2800" dirty="0"/>
              <a:t>• Requires internet connection</a:t>
            </a:r>
          </a:p>
          <a:p>
            <a:r>
              <a:rPr lang="en-IN" sz="2800" dirty="0"/>
              <a:t>• Limited to basic analytics in current version</a:t>
            </a:r>
          </a:p>
          <a:p>
            <a:r>
              <a:rPr lang="en-IN" sz="2800" dirty="0"/>
              <a:t>• Basic Security.</a:t>
            </a:r>
          </a:p>
        </p:txBody>
      </p:sp>
    </p:spTree>
    <p:extLst>
      <p:ext uri="{BB962C8B-B14F-4D97-AF65-F5344CB8AC3E}">
        <p14:creationId xmlns:p14="http://schemas.microsoft.com/office/powerpoint/2010/main" val="18389767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395</TotalTime>
  <Words>717</Words>
  <Application>Microsoft Office PowerPoint</Application>
  <PresentationFormat>Custom</PresentationFormat>
  <Paragraphs>258</Paragraphs>
  <Slides>14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Cambria</vt:lpstr>
      <vt:lpstr>Wingdings</vt:lpstr>
      <vt:lpstr>Gotham Bold Italics</vt:lpstr>
      <vt:lpstr>Arial</vt:lpstr>
      <vt:lpstr>Calibri</vt:lpstr>
      <vt:lpstr>Gotham</vt:lpstr>
      <vt:lpstr>Bookman Old Style</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swetha</dc:creator>
  <cp:lastModifiedBy>swetha pavani</cp:lastModifiedBy>
  <cp:revision>14</cp:revision>
  <dcterms:created xsi:type="dcterms:W3CDTF">2006-08-16T00:00:00Z</dcterms:created>
  <dcterms:modified xsi:type="dcterms:W3CDTF">2026-04-17T02:39:48Z</dcterms:modified>
  <dc:identifier>DAHCaYqJ9OU</dc:identifier>
</cp:coreProperties>
</file>